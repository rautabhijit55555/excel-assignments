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640080"/>
            <a:ext cx="1828800" cy="1828800"/>
          </a:xfrm>
          <a:prstGeom prst="ellipse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1920240"/>
            <a:ext cx="1143000" cy="1143000"/>
          </a:xfrm>
          <a:prstGeom prst="ellipse">
            <a:avLst/>
          </a:prstGeom>
          <a:solidFill>
            <a:srgbClr val="60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23960" y="2834640"/>
            <a:ext cx="658368" cy="658368"/>
          </a:xfrm>
          <a:prstGeom prst="ellipse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0" y="3840480"/>
            <a:ext cx="1508760" cy="1508760"/>
          </a:xfrm>
          <a:prstGeom prst="ellipse">
            <a:avLst/>
          </a:prstGeom>
          <a:solidFill>
            <a:srgbClr val="27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1">
                <a:solidFill>
                  <a:srgbClr val="00BEB2"/>
                </a:solidFill>
                <a:latin typeface="Aptos"/>
              </a:rPr>
              <a:t>PROJECT PRESENTATION  /  EXCEL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7680960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3800" b="1">
                <a:solidFill>
                  <a:srgbClr val="F8FAFD"/>
                </a:solidFill>
                <a:latin typeface="Aptos"/>
              </a:rPr>
              <a:t>FINANCIAL
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246120"/>
            <a:ext cx="71323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200" b="0">
                <a:solidFill>
                  <a:srgbClr val="60D2E0"/>
                </a:solidFill>
                <a:latin typeface="Aptos"/>
              </a:rPr>
              <a:t>Turning cash flows into clearer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61264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0">
                <a:solidFill>
                  <a:srgbClr val="AEBCD1"/>
                </a:solidFill>
                <a:latin typeface="Aptos"/>
              </a:rPr>
              <a:t>A practical walkthrough of Excel’s financial functions,
loan calculations and investment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623560"/>
            <a:ext cx="2834640" cy="438912"/>
          </a:xfrm>
          <a:prstGeom prst="round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696712"/>
            <a:ext cx="2560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E1B36"/>
                </a:solidFill>
                <a:latin typeface="Aptos"/>
              </a:rPr>
              <a:t>FINANCIAL ANALYSIS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00BEB2"/>
                </a:solidFill>
                <a:latin typeface="Aptos"/>
              </a:rPr>
              <a:t>01 /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F8FAFD"/>
                </a:solidFill>
                <a:latin typeface="Aptos"/>
              </a:rPr>
              <a:t>From spreadsheet formulas to financial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60120" cy="50292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EBCD1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50292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1">
                <a:solidFill>
                  <a:srgbClr val="00BEB2"/>
                </a:solidFill>
                <a:latin typeface="Aptos"/>
              </a:rPr>
              <a:t>THE PROJECT IN ONE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120640" cy="3566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F8FAFD"/>
                </a:solidFill>
                <a:latin typeface="Aptos"/>
              </a:defRPr>
            </a:pPr>
            <a:r>
              <a:t>Apply Excel financial functions to realistic scenarios.</a:t>
            </a:r>
          </a:p>
          <a:p>
            <a:pPr>
              <a:spcAft>
                <a:spcPts val="8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t>•  Calculate the present value of payments and cash flows.</a:t>
            </a:r>
          </a:p>
          <a:p>
            <a:pPr>
              <a:spcAft>
                <a:spcPts val="8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t>•  Understand EMI, interest and principal repayment.</a:t>
            </a:r>
          </a:p>
          <a:p>
            <a:pPr>
              <a:spcAft>
                <a:spcPts val="8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t>•  Evaluate investments using NPV, IRR, XNPV, XIRR and MIRR.</a:t>
            </a:r>
          </a:p>
          <a:p>
            <a:pPr>
              <a:spcAft>
                <a:spcPts val="8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t>•  Summarise outputs with clear assumptions and decision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91640"/>
            <a:ext cx="2331720" cy="160020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91640"/>
            <a:ext cx="64008" cy="1600200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856232"/>
            <a:ext cx="1947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TIME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313432"/>
            <a:ext cx="1947672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A rupee today is worth more than a rupee received later.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691640"/>
            <a:ext cx="2331720" cy="160020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1691640"/>
            <a:ext cx="64008" cy="160020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8" y="1856232"/>
            <a:ext cx="1947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CASH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2313432"/>
            <a:ext cx="1947672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Timing and direction affect the result.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566160"/>
            <a:ext cx="2331720" cy="160020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566160"/>
            <a:ext cx="64008" cy="1600200"/>
          </a:xfrm>
          <a:prstGeom prst="rect">
            <a:avLst/>
          </a:prstGeom>
          <a:solidFill>
            <a:srgbClr val="60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3730752"/>
            <a:ext cx="1947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BORROWING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4187952"/>
            <a:ext cx="1947672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EMI combines interest and principal.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3566160"/>
            <a:ext cx="2331720" cy="160020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3566160"/>
            <a:ext cx="64008" cy="1600200"/>
          </a:xfrm>
          <a:prstGeom prst="rect">
            <a:avLst/>
          </a:prstGeom>
          <a:solidFill>
            <a:srgbClr val="5BD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3730752"/>
            <a:ext cx="1947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INVESTING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4187952"/>
            <a:ext cx="1947672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Returns must be compared with risk and hurdle rates.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AEBCD1"/>
                </a:solidFill>
                <a:latin typeface="Aptos"/>
              </a:rPr>
              <a:t>FINANCIAL ANALYSIS • EXCEL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00BEB2"/>
                </a:solidFill>
                <a:latin typeface="Aptos"/>
              </a:rPr>
              <a:t>02 /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F8FAFD"/>
                </a:solidFill>
                <a:latin typeface="Aptos"/>
              </a:rPr>
              <a:t>The Excel finance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60120" cy="50292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EBCD1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5349240" cy="1261872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64008" cy="1261872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373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PV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94560"/>
            <a:ext cx="4965192" cy="53035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Value today of future payments
=PV(rate, nper, pmt, [fv], [type])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72768"/>
            <a:ext cx="5349240" cy="1261872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572768"/>
            <a:ext cx="64008" cy="1261872"/>
          </a:xfrm>
          <a:prstGeom prst="rect">
            <a:avLst/>
          </a:prstGeom>
          <a:solidFill>
            <a:srgbClr val="60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7373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NPV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194560"/>
            <a:ext cx="4965192" cy="53035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Value of future periodic cash flows, discounted
=NPV(rate, values)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81528"/>
            <a:ext cx="5349240" cy="1261872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081528"/>
            <a:ext cx="64008" cy="1261872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24612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XNPV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703320"/>
            <a:ext cx="4965192" cy="53035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Discounted value using actual dates
=XNPV(rate, values, dates)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081528"/>
            <a:ext cx="5349240" cy="1261872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081528"/>
            <a:ext cx="64008" cy="1261872"/>
          </a:xfrm>
          <a:prstGeom prst="rect">
            <a:avLst/>
          </a:prstGeom>
          <a:solidFill>
            <a:srgbClr val="5BD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324612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PMT / EMI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703320"/>
            <a:ext cx="4965192" cy="53035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Fixed payment for a loan or annuity
=PMT(rate, nper, pv, [fv], [type])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90288"/>
            <a:ext cx="5349240" cy="1261872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590288"/>
            <a:ext cx="64008" cy="1261872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754879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IRR / XIRR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212079"/>
            <a:ext cx="4965192" cy="53035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Return implied by cash flows; XIRR uses dates
=IRR(values)  |  =XIRR(values, dates)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590288"/>
            <a:ext cx="5349240" cy="1261872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590288"/>
            <a:ext cx="64008" cy="1261872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4754879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MIRR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5212079"/>
            <a:ext cx="4965192" cy="53035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Return with separate finance and reinvestment rates
=MIRR(values, finance_rate, reinvest_rate)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AEBCD1"/>
                </a:solidFill>
                <a:latin typeface="Aptos"/>
              </a:rPr>
              <a:t>FINANCIAL ANALYSIS • EXCEL FUNCTIONS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00BEB2"/>
                </a:solidFill>
                <a:latin typeface="Aptos"/>
              </a:rPr>
              <a:t>03 /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F8FAFD"/>
                </a:solidFill>
                <a:latin typeface="Aptos"/>
              </a:rPr>
              <a:t>Present Value: what are future payments worth today?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60120" cy="50292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EBCD1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2743200" cy="132588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64008" cy="132588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10512"/>
            <a:ext cx="23591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PRICE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67712"/>
            <a:ext cx="2359152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₹32,000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645920"/>
            <a:ext cx="2286000" cy="132588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645920"/>
            <a:ext cx="64008" cy="1325880"/>
          </a:xfrm>
          <a:prstGeom prst="rect">
            <a:avLst/>
          </a:prstGeom>
          <a:solidFill>
            <a:srgbClr val="60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1810512"/>
            <a:ext cx="1901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YEARLY PAYMENT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267712"/>
            <a:ext cx="1901952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₹6,000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286000" cy="132588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64008" cy="1325880"/>
          </a:xfrm>
          <a:prstGeom prst="rect">
            <a:avLst/>
          </a:prstGeom>
          <a:solidFill>
            <a:srgbClr val="5BD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810512"/>
            <a:ext cx="1901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267712"/>
            <a:ext cx="1901952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8 years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645920"/>
            <a:ext cx="2743200" cy="132588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1645920"/>
            <a:ext cx="64008" cy="1325880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8" y="1810512"/>
            <a:ext cx="23591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DISCOUNT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267712"/>
            <a:ext cx="2359152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13% annually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29000"/>
            <a:ext cx="47548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00BEB2"/>
                </a:solidFill>
                <a:latin typeface="Aptos"/>
              </a:rPr>
              <a:t>EXCEL FORMULA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886200"/>
            <a:ext cx="56692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400" b="1">
                <a:solidFill>
                  <a:srgbClr val="F8FAFD"/>
                </a:solidFill>
                <a:latin typeface="Aptos"/>
              </a:rPr>
              <a:t>=PV(13%, 8, -6000)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54880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AEBCD1"/>
                </a:solidFill>
                <a:latin typeface="Aptos"/>
              </a:rPr>
              <a:t>Calculated present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43891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900" b="1">
                <a:solidFill>
                  <a:srgbClr val="5BD29B"/>
                </a:solidFill>
                <a:latin typeface="Aptos"/>
              </a:rPr>
              <a:t>₹28,792.62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520440"/>
            <a:ext cx="475488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60D2E0"/>
                </a:solidFill>
                <a:latin typeface="Aptos"/>
              </a:defRPr>
            </a:pPr>
            <a:r>
              <a:t>Interpretation</a:t>
            </a:r>
          </a:p>
          <a:p>
            <a:pPr>
              <a:spcAft>
                <a:spcPts val="1200"/>
              </a:spcAft>
              <a:defRPr sz="1500" b="0">
                <a:solidFill>
                  <a:srgbClr val="F8FAFD"/>
                </a:solidFill>
                <a:latin typeface="Aptos"/>
              </a:defRPr>
            </a:pPr>
            <a:r>
              <a:t>At a 13% annual rate, eight year-end payments of ₹6,000 have a present value of about ₹28,793.</a:t>
            </a:r>
          </a:p>
          <a:p>
            <a:pPr>
              <a:spcAft>
                <a:spcPts val="800"/>
              </a:spcAft>
              <a:defRPr sz="1300" b="0">
                <a:solidFill>
                  <a:srgbClr val="AEBCD1"/>
                </a:solidFill>
                <a:latin typeface="Aptos"/>
              </a:defRPr>
            </a:pPr>
            <a:r>
              <a:t>Excel cash-flow signs matter: payments are entered as negative when modelling an outflow.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AEBCD1"/>
                </a:solidFill>
                <a:latin typeface="Aptos"/>
              </a:rPr>
              <a:t>FINANCIAL ANALYSIS • EXCEL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00BEB2"/>
                </a:solidFill>
                <a:latin typeface="Aptos"/>
              </a:rPr>
              <a:t>04 / LOAN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F8FAFD"/>
                </a:solidFill>
                <a:latin typeface="Aptos"/>
              </a:rPr>
              <a:t>EMI: the monthly payment is only part of the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60120" cy="50292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EBCD1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337560" cy="141732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64008" cy="1417320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10512"/>
            <a:ext cx="29535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LOAN SCENARIO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67712"/>
            <a:ext cx="295351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₹50,00,000 • 12% p.a.
25 years • payment at beginning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337560" cy="141732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64008" cy="141732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810512"/>
            <a:ext cx="29535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ESTIMATED EMI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267712"/>
            <a:ext cx="295351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₹52,139.81 / 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45920"/>
            <a:ext cx="3337560" cy="141732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645920"/>
            <a:ext cx="64008" cy="1417320"/>
          </a:xfrm>
          <a:prstGeom prst="rect">
            <a:avLst/>
          </a:prstGeom>
          <a:solidFill>
            <a:srgbClr val="60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810512"/>
            <a:ext cx="29535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EXCEL FORMULA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267712"/>
            <a:ext cx="295351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=PMT(12%/12, 25*12, -5000000, 0,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1">
                <a:solidFill>
                  <a:srgbClr val="00BEB2"/>
                </a:solidFill>
                <a:latin typeface="Aptos"/>
              </a:rPr>
              <a:t>WHAT EACH EMI CONTAINS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77639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F8FAFD"/>
                </a:solidFill>
                <a:latin typeface="Aptos"/>
              </a:rPr>
              <a:t>Interest component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70832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F8FAFD"/>
                </a:solidFill>
                <a:latin typeface="Aptos"/>
              </a:rPr>
              <a:t>Principal component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3995928"/>
            <a:ext cx="3566160" cy="219456"/>
          </a:xfrm>
          <a:prstGeom prst="round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57600" y="4389120"/>
            <a:ext cx="4800600" cy="219456"/>
          </a:xfrm>
          <a:prstGeom prst="roundRect">
            <a:avLst/>
          </a:prstGeom>
          <a:solidFill>
            <a:srgbClr val="5BD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3931920"/>
            <a:ext cx="2560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1">
                <a:solidFill>
                  <a:srgbClr val="AEBCD1"/>
                </a:solidFill>
                <a:latin typeface="Aptos"/>
              </a:rPr>
              <a:t>Early payments usually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315968"/>
            <a:ext cx="25603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8FAFD"/>
                </a:solidFill>
                <a:latin typeface="Aptos"/>
              </a:rPr>
              <a:t>contain more interest;
principal share rises over 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49240"/>
            <a:ext cx="10607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AEBCD1"/>
                </a:solidFill>
                <a:latin typeface="Aptos"/>
              </a:rPr>
              <a:t>Note: the payment above follows the worksheet’s stated type = 1 (payments at the beginning of each period).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AEBCD1"/>
                </a:solidFill>
                <a:latin typeface="Aptos"/>
              </a:rPr>
              <a:t>FINANCIAL ANALYSIS • EXCEL FUNCTIONS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00BEB2"/>
                </a:solidFill>
                <a:latin typeface="Aptos"/>
              </a:rPr>
              <a:t>05 / INVESTMENT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F8FAFD"/>
                </a:solidFill>
                <a:latin typeface="Aptos"/>
              </a:rPr>
              <a:t>NPV: compare investment value at a chosen discount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60120" cy="50292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EBCD1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2062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1">
                <a:solidFill>
                  <a:srgbClr val="00BEB2"/>
                </a:solidFill>
                <a:latin typeface="Aptos"/>
              </a:rPr>
              <a:t>WORKSHEET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5720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000" b="1">
                <a:solidFill>
                  <a:srgbClr val="F8FAFD"/>
                </a:solidFill>
                <a:latin typeface="Aptos"/>
              </a:rPr>
              <a:t>Discount rate: 20%
Three periods of uneven cash flows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188720" cy="438912"/>
          </a:xfrm>
          <a:prstGeom prst="rect">
            <a:avLst/>
          </a:prstGeom>
          <a:solidFill>
            <a:srgbClr val="243D63"/>
          </a:solidFill>
          <a:ln>
            <a:solidFill>
              <a:srgbClr val="39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Aptos"/>
              </a:rPr>
              <a:t>Period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3383280"/>
            <a:ext cx="1920240" cy="438912"/>
          </a:xfrm>
          <a:prstGeom prst="rect">
            <a:avLst/>
          </a:prstGeom>
          <a:solidFill>
            <a:srgbClr val="243D63"/>
          </a:solidFill>
          <a:ln>
            <a:solidFill>
              <a:srgbClr val="39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347472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Aptos"/>
              </a:rPr>
              <a:t>Investment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3383280"/>
            <a:ext cx="1920240" cy="438912"/>
          </a:xfrm>
          <a:prstGeom prst="rect">
            <a:avLst/>
          </a:prstGeom>
          <a:solidFill>
            <a:srgbClr val="243D63"/>
          </a:solidFill>
          <a:ln>
            <a:solidFill>
              <a:srgbClr val="39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347472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Aptos"/>
              </a:rPr>
              <a:t>Investment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22191"/>
            <a:ext cx="1188720" cy="438912"/>
          </a:xfrm>
          <a:prstGeom prst="rect">
            <a:avLst/>
          </a:prstGeom>
          <a:solidFill>
            <a:srgbClr val="162B4E"/>
          </a:solidFill>
          <a:ln>
            <a:solidFill>
              <a:srgbClr val="39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913631"/>
            <a:ext cx="11155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F8FAFD"/>
                </a:solidFill>
                <a:latin typeface="Aptos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822191"/>
            <a:ext cx="1920240" cy="438912"/>
          </a:xfrm>
          <a:prstGeom prst="rect">
            <a:avLst/>
          </a:prstGeom>
          <a:solidFill>
            <a:srgbClr val="162B4E"/>
          </a:solidFill>
          <a:ln>
            <a:solidFill>
              <a:srgbClr val="39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56816" y="3913631"/>
            <a:ext cx="18470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F8FAFD"/>
                </a:solidFill>
                <a:latin typeface="Aptos"/>
              </a:rPr>
              <a:t>-₹10,000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822191"/>
            <a:ext cx="1920240" cy="438912"/>
          </a:xfrm>
          <a:prstGeom prst="rect">
            <a:avLst/>
          </a:prstGeom>
          <a:solidFill>
            <a:srgbClr val="162B4E"/>
          </a:solidFill>
          <a:ln>
            <a:solidFill>
              <a:srgbClr val="39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77056" y="3913631"/>
            <a:ext cx="18470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F8FAFD"/>
                </a:solidFill>
                <a:latin typeface="Aptos"/>
              </a:rPr>
              <a:t>-₹5,000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61104"/>
            <a:ext cx="1188720" cy="438912"/>
          </a:xfrm>
          <a:prstGeom prst="rect">
            <a:avLst/>
          </a:prstGeom>
          <a:solidFill>
            <a:srgbClr val="122342"/>
          </a:solidFill>
          <a:ln>
            <a:solidFill>
              <a:srgbClr val="39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352544"/>
            <a:ext cx="11155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F8FAFD"/>
                </a:solidFill>
                <a:latin typeface="Aptos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4261104"/>
            <a:ext cx="1920240" cy="438912"/>
          </a:xfrm>
          <a:prstGeom prst="rect">
            <a:avLst/>
          </a:prstGeom>
          <a:solidFill>
            <a:srgbClr val="122342"/>
          </a:solidFill>
          <a:ln>
            <a:solidFill>
              <a:srgbClr val="39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56816" y="4352544"/>
            <a:ext cx="18470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F8FAFD"/>
                </a:solidFill>
                <a:latin typeface="Aptos"/>
              </a:rPr>
              <a:t>₹25,000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4261104"/>
            <a:ext cx="1920240" cy="438912"/>
          </a:xfrm>
          <a:prstGeom prst="rect">
            <a:avLst/>
          </a:prstGeom>
          <a:solidFill>
            <a:srgbClr val="122342"/>
          </a:solidFill>
          <a:ln>
            <a:solidFill>
              <a:srgbClr val="39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77056" y="4352544"/>
            <a:ext cx="18470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F8FAFD"/>
                </a:solidFill>
                <a:latin typeface="Aptos"/>
              </a:rPr>
              <a:t>₹20,000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700016"/>
            <a:ext cx="1188720" cy="438912"/>
          </a:xfrm>
          <a:prstGeom prst="rect">
            <a:avLst/>
          </a:prstGeom>
          <a:solidFill>
            <a:srgbClr val="162B4E"/>
          </a:solidFill>
          <a:ln>
            <a:solidFill>
              <a:srgbClr val="39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791456"/>
            <a:ext cx="11155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F8FAFD"/>
                </a:solidFill>
                <a:latin typeface="Aptos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4700016"/>
            <a:ext cx="1920240" cy="438912"/>
          </a:xfrm>
          <a:prstGeom prst="rect">
            <a:avLst/>
          </a:prstGeom>
          <a:solidFill>
            <a:srgbClr val="162B4E"/>
          </a:solidFill>
          <a:ln>
            <a:solidFill>
              <a:srgbClr val="39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56816" y="4791456"/>
            <a:ext cx="18470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F8FAFD"/>
                </a:solidFill>
                <a:latin typeface="Aptos"/>
              </a:rPr>
              <a:t>-₹7,000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4700016"/>
            <a:ext cx="1920240" cy="438912"/>
          </a:xfrm>
          <a:prstGeom prst="rect">
            <a:avLst/>
          </a:prstGeom>
          <a:solidFill>
            <a:srgbClr val="162B4E"/>
          </a:solidFill>
          <a:ln>
            <a:solidFill>
              <a:srgbClr val="39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77056" y="4791456"/>
            <a:ext cx="18470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F8FAFD"/>
                </a:solidFill>
                <a:latin typeface="Aptos"/>
              </a:rPr>
              <a:t>-₹8,000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1737360"/>
            <a:ext cx="4297680" cy="132588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0" y="1737360"/>
            <a:ext cx="64008" cy="132588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59168" y="1901952"/>
            <a:ext cx="3913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IMPORTANT EXCEL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2359152"/>
            <a:ext cx="3913632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NPV discounts future periodic flows. Add the time-zero investment separately.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3337560"/>
            <a:ext cx="4297680" cy="132588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0" y="3337560"/>
            <a:ext cx="64008" cy="1325880"/>
          </a:xfrm>
          <a:prstGeom prst="rect">
            <a:avLst/>
          </a:prstGeom>
          <a:solidFill>
            <a:srgbClr val="5BD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9168" y="3502152"/>
            <a:ext cx="3913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DECISION LENS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3959352"/>
            <a:ext cx="3913632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A positive NPV suggests value creation at the selected discount rate—if assumptions hold.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5074920"/>
            <a:ext cx="4023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AEBCD1"/>
                </a:solidFill>
                <a:latin typeface="Aptos"/>
              </a:rPr>
              <a:t>Use the same timing convention and discount rate when comparing options.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AEBCD1"/>
                </a:solidFill>
                <a:latin typeface="Aptos"/>
              </a:rPr>
              <a:t>FINANCIAL ANALYSIS • EXCEL FUNCTIONS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00BEB2"/>
                </a:solidFill>
                <a:latin typeface="Aptos"/>
              </a:rPr>
              <a:t>06 / DATE-AWARE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F8FAFD"/>
                </a:solidFill>
                <a:latin typeface="Aptos"/>
              </a:rPr>
              <a:t>When dates are irregular, use XNPV and XIRR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60120" cy="50292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EBCD1"/>
                </a:solidFill>
                <a:latin typeface="Apto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926080"/>
            <a:ext cx="9875520" cy="36576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2743200"/>
            <a:ext cx="384048" cy="384048"/>
          </a:xfrm>
          <a:prstGeom prst="ellipse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371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00BEB2"/>
                </a:solidFill>
                <a:latin typeface="Aptos"/>
              </a:rPr>
              <a:t>+₹5,000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1645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Aptos"/>
              </a:rPr>
              <a:t>15 Jun 2016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0" y="2743200"/>
            <a:ext cx="384048" cy="384048"/>
          </a:xfrm>
          <a:prstGeom prst="ellipse">
            <a:avLst/>
          </a:prstGeom>
          <a:solidFill>
            <a:srgbClr val="5BD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965960"/>
            <a:ext cx="1371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5BD29B"/>
                </a:solidFill>
                <a:latin typeface="Aptos"/>
              </a:rPr>
              <a:t>+₹5,143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337560"/>
            <a:ext cx="1645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Aptos"/>
              </a:rPr>
              <a:t>14 Oct 2016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2743200"/>
            <a:ext cx="384048" cy="384048"/>
          </a:xfrm>
          <a:prstGeom prst="ellipse">
            <a:avLst/>
          </a:prstGeom>
          <a:solidFill>
            <a:srgbClr val="5BD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965960"/>
            <a:ext cx="1371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5BD29B"/>
                </a:solidFill>
                <a:latin typeface="Aptos"/>
              </a:rPr>
              <a:t>+₹8,838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337560"/>
            <a:ext cx="1645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Aptos"/>
              </a:rPr>
              <a:t>30 Apr 2017</a:t>
            </a:r>
          </a:p>
        </p:txBody>
      </p:sp>
      <p:sp>
        <p:nvSpPr>
          <p:cNvPr id="17" name="Oval 16"/>
          <p:cNvSpPr/>
          <p:nvPr/>
        </p:nvSpPr>
        <p:spPr>
          <a:xfrm>
            <a:off x="9052560" y="2743200"/>
            <a:ext cx="384048" cy="384048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1965960"/>
            <a:ext cx="1371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F6F61"/>
                </a:solidFill>
                <a:latin typeface="Aptos"/>
              </a:rPr>
              <a:t>−₹4,893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337560"/>
            <a:ext cx="1645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Aptos"/>
              </a:rPr>
              <a:t>10 Nov 2016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34840"/>
            <a:ext cx="5074920" cy="114300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434840"/>
            <a:ext cx="64008" cy="1143000"/>
          </a:xfrm>
          <a:prstGeom prst="rect">
            <a:avLst/>
          </a:prstGeom>
          <a:solidFill>
            <a:srgbClr val="60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599431"/>
            <a:ext cx="46908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XNPV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056631"/>
            <a:ext cx="4690872" cy="4114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Discount cash flows based on the exact number of days between dates.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4434840"/>
            <a:ext cx="5074920" cy="114300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4434840"/>
            <a:ext cx="64008" cy="114300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4599431"/>
            <a:ext cx="46908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XIRR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5056631"/>
            <a:ext cx="4690872" cy="4114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Find the annualised return that makes dated cash flows net to zero.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704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0">
                <a:solidFill>
                  <a:srgbClr val="AEBCD1"/>
                </a:solidFill>
                <a:latin typeface="Aptos"/>
              </a:rPr>
              <a:t>The worksheet includes several dates that are not in chronological order; sort dates and matching cash flows together before interpreting results.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AEBCD1"/>
                </a:solidFill>
                <a:latin typeface="Aptos"/>
              </a:rPr>
              <a:t>FINANCIAL ANALYSIS • EXCEL FUNCTIONS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00BEB2"/>
                </a:solidFill>
                <a:latin typeface="Aptos"/>
              </a:rPr>
              <a:t>07 /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F8FAFD"/>
                </a:solidFill>
                <a:latin typeface="Aptos"/>
              </a:rPr>
              <a:t>IRR: validate the cash-flow pattern before trusting the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60120" cy="50292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EBCD1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141732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4008" cy="1417320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992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IRR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67712"/>
            <a:ext cx="299923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=IRR(values, [guess])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141732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64008" cy="1417320"/>
          </a:xfrm>
          <a:prstGeom prst="rect">
            <a:avLst/>
          </a:prstGeom>
          <a:solidFill>
            <a:srgbClr val="60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10512"/>
            <a:ext cx="29992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XIRR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67712"/>
            <a:ext cx="299923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=XIRR(values, dates, [guess])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83280" cy="141732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64008" cy="141732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810512"/>
            <a:ext cx="29992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MIRR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67712"/>
            <a:ext cx="299923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=MIRR(values, finance, reinvest)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4572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1">
                <a:solidFill>
                  <a:srgbClr val="FF6F61"/>
                </a:solidFill>
                <a:latin typeface="Aptos"/>
              </a:rPr>
              <a:t>WHY #NUM! CAN APPEAR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484632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D"/>
                </a:solidFill>
                <a:latin typeface="Aptos"/>
              </a:defRPr>
            </a:pPr>
            <a:r>
              <a:t>The worksheet contains a cash-flow sequence with no valid IRR above −100%.</a:t>
            </a:r>
          </a:p>
          <a:p>
            <a:pPr>
              <a:spcAft>
                <a:spcPts val="800"/>
              </a:spcAft>
              <a:defRPr sz="1300" b="0">
                <a:solidFill>
                  <a:srgbClr val="AEBCD1"/>
                </a:solidFill>
                <a:latin typeface="Aptos"/>
              </a:defRPr>
            </a:pPr>
            <a:r>
              <a:t>Excel may return #NUM! when it cannot find a valid solution for the cash flows and guess.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520440"/>
            <a:ext cx="4846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1">
                <a:solidFill>
                  <a:srgbClr val="00BEB2"/>
                </a:solidFill>
                <a:latin typeface="Aptos"/>
              </a:rPr>
              <a:t>TROUBLESHOOTING CHECKLIST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931920"/>
            <a:ext cx="502920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8FAFD"/>
                </a:solidFill>
                <a:latin typeface="Aptos"/>
              </a:defRPr>
            </a:pPr>
            <a:r>
              <a:t>•  Confirm the initial investment is negative and later receipts are positive.</a:t>
            </a:r>
          </a:p>
          <a:p>
            <a:pPr>
              <a:spcAft>
                <a:spcPts val="800"/>
              </a:spcAft>
              <a:defRPr sz="1300" b="0">
                <a:solidFill>
                  <a:srgbClr val="F8FAFD"/>
                </a:solidFill>
                <a:latin typeface="Aptos"/>
              </a:defRPr>
            </a:pPr>
            <a:r>
              <a:t>•  Check that values and dates align row by row.</a:t>
            </a:r>
          </a:p>
          <a:p>
            <a:pPr>
              <a:spcAft>
                <a:spcPts val="800"/>
              </a:spcAft>
              <a:defRPr sz="1300" b="0">
                <a:solidFill>
                  <a:srgbClr val="F8FAFD"/>
                </a:solidFill>
                <a:latin typeface="Aptos"/>
              </a:defRPr>
            </a:pPr>
            <a:r>
              <a:t>•  Use a realistic guess—but do not change source data just to remove an error.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AEBCD1"/>
                </a:solidFill>
                <a:latin typeface="Aptos"/>
              </a:rPr>
              <a:t>FINANCIAL ANALYSIS • EXCEL FUNCTIONS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00BEB2"/>
                </a:solidFill>
                <a:latin typeface="Aptos"/>
              </a:rPr>
              <a:t>08 / RETURN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F8FAFD"/>
                </a:solidFill>
                <a:latin typeface="Aptos"/>
              </a:rPr>
              <a:t>MIRR: a more explicit view of financing and reinvestment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60120" cy="50292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EBCD1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108960" cy="137160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64008" cy="137160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01952"/>
            <a:ext cx="27249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FINANCE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59152"/>
            <a:ext cx="272491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10%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37360"/>
            <a:ext cx="3108960" cy="137160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737360"/>
            <a:ext cx="64008" cy="1371600"/>
          </a:xfrm>
          <a:prstGeom prst="rect">
            <a:avLst/>
          </a:prstGeom>
          <a:solidFill>
            <a:srgbClr val="5BD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901952"/>
            <a:ext cx="27249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REINVESTMENT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359152"/>
            <a:ext cx="272491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12%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737360"/>
            <a:ext cx="3108960" cy="1371600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737360"/>
            <a:ext cx="64008" cy="1371600"/>
          </a:xfrm>
          <a:prstGeom prst="rect">
            <a:avLst/>
          </a:prstGeom>
          <a:solidFill>
            <a:srgbClr val="60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901952"/>
            <a:ext cx="27249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CASH-FLOW PERIODS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359152"/>
            <a:ext cx="272491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AEBCD1"/>
                </a:solidFill>
                <a:latin typeface="Aptos"/>
              </a:rPr>
              <a:t>Years 0–2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1">
                <a:solidFill>
                  <a:srgbClr val="00BEB2"/>
                </a:solidFill>
                <a:latin typeface="Aptos"/>
              </a:rPr>
              <a:t>EXCEL FORMULA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8521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000" b="1">
                <a:solidFill>
                  <a:srgbClr val="F8FAFD"/>
                </a:solidFill>
                <a:latin typeface="Aptos"/>
              </a:rPr>
              <a:t>=MIRR(B144:B146, B140, B141)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11880"/>
            <a:ext cx="466344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60D2E0"/>
                </a:solidFill>
                <a:latin typeface="Aptos"/>
              </a:defRPr>
            </a:pPr>
            <a:r>
              <a:t>Why it helps</a:t>
            </a:r>
          </a:p>
          <a:p>
            <a:pPr>
              <a:spcAft>
                <a:spcPts val="1000"/>
              </a:spcAft>
              <a:defRPr sz="1400" b="0">
                <a:solidFill>
                  <a:srgbClr val="F8FAFD"/>
                </a:solidFill>
                <a:latin typeface="Aptos"/>
              </a:defRPr>
            </a:pPr>
            <a:r>
              <a:t>MIRR separates the cost of financing negative cash flows from the rate earned on reinvested positive cash flows.</a:t>
            </a:r>
          </a:p>
          <a:p>
            <a:pPr>
              <a:spcAft>
                <a:spcPts val="800"/>
              </a:spcAft>
              <a:defRPr sz="1200" b="0">
                <a:solidFill>
                  <a:srgbClr val="AEBCD1"/>
                </a:solidFill>
                <a:latin typeface="Aptos"/>
              </a:defRPr>
            </a:pPr>
            <a:r>
              <a:t>This can make assumptions more transparent than a single IRR figure.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AEBCD1"/>
                </a:solidFill>
                <a:latin typeface="Aptos"/>
              </a:rPr>
              <a:t>Use the formula with the actual cash-flow range and rate cells from the worksheet; verify signs before drawing conclusions.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AEBCD1"/>
                </a:solidFill>
                <a:latin typeface="Aptos"/>
              </a:rPr>
              <a:t>FINANCIAL ANALYSIS • EXCEL FUNCTIONS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00BEB2"/>
                </a:solidFill>
                <a:latin typeface="Aptos"/>
              </a:rPr>
              <a:t>09 /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F8FAFD"/>
                </a:solidFill>
                <a:latin typeface="Aptos"/>
              </a:rPr>
              <a:t>Summary: the numbers are only as useful as the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60120" cy="50292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EBCD1"/>
                </a:solidFill>
                <a:latin typeface="Aptos"/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190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E1B3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91056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F8FAFD"/>
                </a:solidFill>
                <a:latin typeface="Aptos"/>
              </a:rPr>
              <a:t>Choose the right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91056"/>
            <a:ext cx="6949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AEBCD1"/>
                </a:solidFill>
                <a:latin typeface="Aptos"/>
              </a:rPr>
              <a:t>PV for today’s value; NPV for periodic flows; XNPV for dated flows.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50592"/>
            <a:ext cx="502920" cy="502920"/>
          </a:xfrm>
          <a:prstGeom prst="ellipse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569464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E1B36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441448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F8FAFD"/>
                </a:solidFill>
                <a:latin typeface="Aptos"/>
              </a:rPr>
              <a:t>Keep cash-flow signs consistent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41448"/>
            <a:ext cx="6949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AEBCD1"/>
                </a:solidFill>
                <a:latin typeface="Aptos"/>
              </a:rPr>
              <a:t>Cash received and cash paid must be represented correctly.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300984"/>
            <a:ext cx="502920" cy="502920"/>
          </a:xfrm>
          <a:prstGeom prst="ellipse">
            <a:avLst/>
          </a:prstGeom>
          <a:solidFill>
            <a:srgbClr val="60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419856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E1B36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291840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F8FAFD"/>
                </a:solidFill>
                <a:latin typeface="Aptos"/>
              </a:rPr>
              <a:t>Check timing conventions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291840"/>
            <a:ext cx="6949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AEBCD1"/>
                </a:solidFill>
                <a:latin typeface="Aptos"/>
              </a:rPr>
              <a:t>Beginning/end-of-period settings change PV and EMI results.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151376"/>
            <a:ext cx="502920" cy="50292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27024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E1B36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142232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F8FAFD"/>
                </a:solidFill>
                <a:latin typeface="Aptos"/>
              </a:rPr>
              <a:t>Validate errors, don’t hide them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42232"/>
            <a:ext cx="6949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AEBCD1"/>
                </a:solidFill>
                <a:latin typeface="Aptos"/>
              </a:rPr>
              <a:t>#NUM! may reveal that the cash-flow pattern has no valid solution.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001768"/>
            <a:ext cx="502920" cy="502920"/>
          </a:xfrm>
          <a:prstGeom prst="ellipse">
            <a:avLst/>
          </a:prstGeom>
          <a:solidFill>
            <a:srgbClr val="5BD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12064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0E1B36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992624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F8FAFD"/>
                </a:solidFill>
                <a:latin typeface="Aptos"/>
              </a:rPr>
              <a:t>Translate output into a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992624"/>
            <a:ext cx="6949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AEBCD1"/>
                </a:solidFill>
                <a:latin typeface="Aptos"/>
              </a:rPr>
              <a:t>Compare NPV/returns with the hurdle rate, risk and business context.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0BEB2"/>
                </a:solidFill>
                <a:latin typeface="Aptos"/>
              </a:rPr>
              <a:t>THANK YOU  •  Questions &amp; discussion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AEBCD1"/>
                </a:solidFill>
                <a:latin typeface="Aptos"/>
              </a:rPr>
              <a:t>FINANCIAL ANALYSIS • EXCEL FUNCTIONS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00BEB2"/>
                </a:solidFill>
                <a:latin typeface="Aptos"/>
              </a:rPr>
              <a:t>APPENDIX /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F8FAFD"/>
                </a:solidFill>
                <a:latin typeface="Aptos"/>
              </a:rPr>
              <a:t>Quick reference: formulas used in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960120" cy="50292"/>
          </a:xfrm>
          <a:prstGeom prst="rect">
            <a:avLst/>
          </a:prstGeom>
          <a:solidFill>
            <a:srgbClr val="00BE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AEBCD1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10789920" cy="493776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82495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00BEB2"/>
                </a:solidFill>
                <a:latin typeface="Aptos"/>
              </a:rPr>
              <a:t>Present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82495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8FAFD"/>
                </a:solidFill>
                <a:latin typeface="Aptos"/>
              </a:rPr>
              <a:t>=PV(rate, nper, pmt, [fv], [type])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10789920" cy="493776"/>
          </a:xfrm>
          <a:prstGeom prst="roundRect">
            <a:avLst/>
          </a:prstGeom>
          <a:solidFill>
            <a:srgbClr val="122342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00BEB2"/>
                </a:solidFill>
                <a:latin typeface="Aptos"/>
              </a:rPr>
              <a:t>Monthly EMI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04288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8FAFD"/>
                </a:solidFill>
                <a:latin typeface="Aptos"/>
              </a:rPr>
              <a:t>=PMT(annual_rate/12, years*12, -loan_amount, 0, type)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16352"/>
            <a:ext cx="10789920" cy="493776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00BEB2"/>
                </a:solidFill>
                <a:latin typeface="Aptos"/>
              </a:rPr>
              <a:t>Periodic NPV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926080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8FAFD"/>
                </a:solidFill>
                <a:latin typeface="Aptos"/>
              </a:rPr>
              <a:t>=NPV(discount_rate, future_cash_flows) + initial_investment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38144"/>
            <a:ext cx="10789920" cy="493776"/>
          </a:xfrm>
          <a:prstGeom prst="roundRect">
            <a:avLst/>
          </a:prstGeom>
          <a:solidFill>
            <a:srgbClr val="122342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4787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00BEB2"/>
                </a:solidFill>
                <a:latin typeface="Aptos"/>
              </a:rPr>
              <a:t>Date-based NPV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547872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8FAFD"/>
                </a:solidFill>
                <a:latin typeface="Aptos"/>
              </a:rPr>
              <a:t>=XNPV(rate, cash_flows, dates)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59936"/>
            <a:ext cx="10789920" cy="493776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9664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00BEB2"/>
                </a:solidFill>
                <a:latin typeface="Aptos"/>
              </a:rPr>
              <a:t>Periodic IRR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169664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8FAFD"/>
                </a:solidFill>
                <a:latin typeface="Aptos"/>
              </a:rPr>
              <a:t>=IRR(cash_flows, [guess])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81728"/>
            <a:ext cx="10789920" cy="493776"/>
          </a:xfrm>
          <a:prstGeom prst="roundRect">
            <a:avLst/>
          </a:prstGeom>
          <a:solidFill>
            <a:srgbClr val="122342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91456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00BEB2"/>
                </a:solidFill>
                <a:latin typeface="Aptos"/>
              </a:rPr>
              <a:t>Date-based IRR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791456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8FAFD"/>
                </a:solidFill>
                <a:latin typeface="Aptos"/>
              </a:rPr>
              <a:t>=XIRR(cash_flows, dates, [guess])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03520"/>
            <a:ext cx="10789920" cy="493776"/>
          </a:xfrm>
          <a:prstGeom prst="roundRect">
            <a:avLst/>
          </a:prstGeom>
          <a:solidFill>
            <a:srgbClr val="162B4E"/>
          </a:solidFill>
          <a:ln>
            <a:solidFill>
              <a:srgbClr val="2D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13248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00BEB2"/>
                </a:solidFill>
                <a:latin typeface="Aptos"/>
              </a:rPr>
              <a:t>Modified IRR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413248"/>
            <a:ext cx="8046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F8FAFD"/>
                </a:solidFill>
                <a:latin typeface="Aptos"/>
              </a:rPr>
              <a:t>=MIRR(cash_flows, finance_rate, reinvestment_rate)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172200"/>
            <a:ext cx="10515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900" b="0">
                <a:solidFill>
                  <a:srgbClr val="AEBCD1"/>
                </a:solidFill>
                <a:latin typeface="Aptos"/>
              </a:rPr>
              <a:t>Source basis: supplied Financial Analysis Report workbook and project brief. Worked outputs are calculated from the listed assumptions.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AEBCD1"/>
                </a:solidFill>
                <a:latin typeface="Aptos"/>
              </a:rPr>
              <a:t>FINANCIAL ANALYSIS • EXCEL FUNCTIONS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Analysis with Excel</dc:title>
  <dc:subject>Excel financial functions and investment analysis</dc:subject>
  <dc:creator>OpenAI</dc:creator>
  <cp:keywords>Financial Analysis, Excel, PV, NPV, EMI, IRR, XIRR, MIRR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