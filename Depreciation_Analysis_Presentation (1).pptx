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670789032726842"/>
          <c:y val="3.1945631019080122E-2"/>
          <c:w val="0.76853693076501017"/>
          <c:h val="0.69510166256806738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Straight-Line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45000</c:v>
                </c:pt>
                <c:pt idx="1">
                  <c:v>45000</c:v>
                </c:pt>
                <c:pt idx="2">
                  <c:v>45000</c:v>
                </c:pt>
                <c:pt idx="3">
                  <c:v>45000</c:v>
                </c:pt>
                <c:pt idx="4">
                  <c:v>45000</c:v>
                </c:pt>
                <c:pt idx="5">
                  <c:v>45000</c:v>
                </c:pt>
                <c:pt idx="6">
                  <c:v>45000</c:v>
                </c:pt>
                <c:pt idx="7">
                  <c:v>45000</c:v>
                </c:pt>
                <c:pt idx="8">
                  <c:v>45000</c:v>
                </c:pt>
                <c:pt idx="9">
                  <c:v>45000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72-4C85-8611-C2BCD63FDA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Diminishing Balance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102835.88263785921</c:v>
                </c:pt>
                <c:pt idx="1">
                  <c:v>81685.445122044126</c:v>
                </c:pt>
                <c:pt idx="2">
                  <c:v>64885.05542646048</c:v>
                </c:pt>
                <c:pt idx="3">
                  <c:v>51540.031536887524</c:v>
                </c:pt>
                <c:pt idx="4">
                  <c:v>40939.70226832966</c:v>
                </c:pt>
                <c:pt idx="5">
                  <c:v>32519.561432939961</c:v>
                </c:pt>
                <c:pt idx="6">
                  <c:v>25831.205827035021</c:v>
                </c:pt>
                <c:pt idx="7">
                  <c:v>20518.456125388311</c:v>
                </c:pt>
                <c:pt idx="8">
                  <c:v>16298.38903334731</c:v>
                </c:pt>
                <c:pt idx="9">
                  <c:v>12946.27058970836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72-4C85-8611-C2BCD63FDA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Year</a:t>
                </a:r>
              </a:p>
            </c:rich>
          </c:tx>
          <c:layout>
            <c:manualLayout>
              <c:xMode val="edge"/>
              <c:yMode val="edge"/>
              <c:x val="5.7810159852899744E-2"/>
              <c:y val="0.89594017094017098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Depreciation ($)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4258910168008655"/>
          <c:y val="0.81232270214905056"/>
          <c:w val="0.39485936874416122"/>
          <c:h val="7.2733744366859809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Straight-Line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500000</c:v>
                </c:pt>
                <c:pt idx="1">
                  <c:v>455000</c:v>
                </c:pt>
                <c:pt idx="2">
                  <c:v>410000</c:v>
                </c:pt>
                <c:pt idx="3">
                  <c:v>365000</c:v>
                </c:pt>
                <c:pt idx="4">
                  <c:v>320000</c:v>
                </c:pt>
                <c:pt idx="5">
                  <c:v>275000</c:v>
                </c:pt>
                <c:pt idx="6">
                  <c:v>230000</c:v>
                </c:pt>
                <c:pt idx="7">
                  <c:v>185000</c:v>
                </c:pt>
                <c:pt idx="8">
                  <c:v>140000</c:v>
                </c:pt>
                <c:pt idx="9">
                  <c:v>95000</c:v>
                </c:pt>
                <c:pt idx="10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6E-4633-B881-AF79691527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Diminishing Balance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500000</c:v>
                </c:pt>
                <c:pt idx="1">
                  <c:v>397164.11736214074</c:v>
                </c:pt>
                <c:pt idx="2">
                  <c:v>315478.67224009661</c:v>
                </c:pt>
                <c:pt idx="3">
                  <c:v>250593.61681363612</c:v>
                </c:pt>
                <c:pt idx="4">
                  <c:v>199053.58527674861</c:v>
                </c:pt>
                <c:pt idx="5">
                  <c:v>158113.88300841895</c:v>
                </c:pt>
                <c:pt idx="6">
                  <c:v>125594.321575479</c:v>
                </c:pt>
                <c:pt idx="7">
                  <c:v>99763.115748443975</c:v>
                </c:pt>
                <c:pt idx="8">
                  <c:v>79244.659623055675</c:v>
                </c:pt>
                <c:pt idx="9">
                  <c:v>62946.270589708358</c:v>
                </c:pt>
                <c:pt idx="10">
                  <c:v>50000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6E-4633-B881-AF79691527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Year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/>
                  <a:t>Book Value ($)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Comparative Analysis of</a:t>
            </a:r>
          </a:p>
          <a:p>
            <a:pPr algn="ctr">
              <a:defRPr sz="3400" b="1">
                <a:solidFill>
                  <a:srgbClr val="FFFFFF"/>
                </a:solidFill>
              </a:defRPr>
            </a:pPr>
            <a:r>
              <a:t>Depreciation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8620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DCEBFA"/>
                </a:solidFill>
              </a:defRPr>
            </a:pPr>
            <a:r>
              <a:t>Straight-Line vs. Diminishing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93776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Excel-based analysis | Prepared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1. 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D3741"/>
                </a:solidFill>
              </a:defRPr>
            </a:pPr>
            <a:r>
              <a:t>Depreciation allocates the cost of a tangible asset over its useful life.</a:t>
            </a:r>
          </a:p>
          <a:p>
            <a:pPr>
              <a:spcAft>
                <a:spcPts val="1400"/>
              </a:spcAft>
              <a:defRPr sz="2100">
                <a:solidFill>
                  <a:srgbClr val="2D3741"/>
                </a:solidFill>
              </a:defRPr>
            </a:pPr>
            <a:r>
              <a:t>It affects reported expenses and the carrying value of assets.</a:t>
            </a:r>
          </a:p>
          <a:p>
            <a:pPr>
              <a:spcAft>
                <a:spcPts val="1400"/>
              </a:spcAft>
              <a:defRPr sz="2100">
                <a:solidFill>
                  <a:srgbClr val="2D3741"/>
                </a:solidFill>
              </a:defRPr>
            </a:pPr>
            <a:r>
              <a:t>Objective: calculate both methods, prepare a 10-year schedule, and compare results.</a:t>
            </a:r>
          </a:p>
          <a:p>
            <a:pPr>
              <a:spcAft>
                <a:spcPts val="1400"/>
              </a:spcAft>
              <a:defRPr sz="2100">
                <a:solidFill>
                  <a:srgbClr val="2D3741"/>
                </a:solidFill>
              </a:defRPr>
            </a:pPr>
            <a:r>
              <a:t>All calculations use the values from the uploaded Excel workbook.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2. Asset Inputs and Assumptions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417320"/>
          <a:ext cx="9966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32D37"/>
                          </a:solidFill>
                        </a:defRPr>
                      </a:pPr>
                      <a:r>
                        <a:t>Asset cost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32D37"/>
                          </a:solidFill>
                        </a:defRPr>
                      </a:pPr>
                      <a:r>
                        <a:t>$450,000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32D37"/>
                          </a:solidFill>
                        </a:defRPr>
                      </a:pPr>
                      <a:r>
                        <a:t>Additional asset cost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32D37"/>
                          </a:solidFill>
                        </a:defRPr>
                      </a:pPr>
                      <a:r>
                        <a:t>$50,000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32D37"/>
                          </a:solidFill>
                        </a:defRPr>
                      </a:pPr>
                      <a:r>
                        <a:t>Total asset price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32D37"/>
                          </a:solidFill>
                        </a:defRPr>
                      </a:pPr>
                      <a:r>
                        <a:t>$500,000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32D37"/>
                          </a:solidFill>
                        </a:defRPr>
                      </a:pPr>
                      <a:r>
                        <a:t>Scrap value (both methods)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32D37"/>
                          </a:solidFill>
                        </a:defRPr>
                      </a:pPr>
                      <a:r>
                        <a:t>$50,000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32D37"/>
                          </a:solidFill>
                        </a:defRPr>
                      </a:pPr>
                      <a:r>
                        <a:t>Estimated useful life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32D37"/>
                          </a:solidFill>
                        </a:defRPr>
                      </a:pPr>
                      <a:r>
                        <a:t>10 years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232D37"/>
                          </a:solidFill>
                        </a:defRPr>
                      </a:pPr>
                      <a:r>
                        <a:t>Diminishing Balance rate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232D37"/>
                          </a:solidFill>
                        </a:defRPr>
                      </a:pPr>
                      <a:r>
                        <a:t>Approximately 20.57%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3. 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Straight-Line: Annual depreciation = (Asset price − Scrap value) ÷ Useful life.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With these inputs: ($500,000 − $50,000) ÷ 10 = $45,000 per year.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Diminishing Balance: Annual depreciation = Opening book value × depreciation rate.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The diminishing rate is calculated so the book value reaches the $50,000 scrap value after 10 years.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t>Rate formula: 1 − (Scrap value ÷ Asset price)^(1 ÷ useful life).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4. Key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Straight-Line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Diminishing Balance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32D37"/>
                          </a:solidFill>
                        </a:defRPr>
                      </a:pPr>
                      <a:r>
                        <a:t>Year 1 depreciation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</a:defRPr>
                      </a:pPr>
                      <a:r>
                        <a:t>$45,000.00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</a:defRPr>
                      </a:pPr>
                      <a:r>
                        <a:t>$102,847 approx.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32D37"/>
                          </a:solidFill>
                        </a:defRPr>
                      </a:pPr>
                      <a:r>
                        <a:t>Year 2 depreciation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</a:defRPr>
                      </a:pPr>
                      <a:r>
                        <a:t>$45,000.00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</a:defRPr>
                      </a:pPr>
                      <a:r>
                        <a:t>$81,680 approx.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32D37"/>
                          </a:solidFill>
                        </a:defRPr>
                      </a:pPr>
                      <a:r>
                        <a:t>Total depreciation over 10 years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</a:defRPr>
                      </a:pPr>
                      <a:r>
                        <a:t>$450,000.00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</a:defRPr>
                      </a:pPr>
                      <a:r>
                        <a:t>$450,000.00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32D37"/>
                          </a:solidFill>
                        </a:defRPr>
                      </a:pPr>
                      <a:r>
                        <a:t>Closing book value after 10 years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</a:defRPr>
                      </a:pPr>
                      <a:r>
                        <a:t>$50,000.00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232D37"/>
                          </a:solidFill>
                        </a:defRPr>
                      </a:pPr>
                      <a:r>
                        <a:t>$50,000.00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12064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741"/>
                </a:solidFill>
              </a:defRPr>
            </a:pPr>
            <a:r>
              <a:t>Total depreciation is equal over the full life because both methods use the same asset price and scrap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5. Annual Depreciation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9019956"/>
              </p:ext>
            </p:extLst>
          </p:nvPr>
        </p:nvGraphicFramePr>
        <p:xfrm>
          <a:off x="731520" y="914400"/>
          <a:ext cx="10789920" cy="5351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6. Book Value Over Time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7899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7.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4988" y="1792824"/>
            <a:ext cx="10497753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Straight-Line records the same depreciation expense each year ($45,000).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Diminishing Balance records higher depreciation in earlier years and lower depreciation later.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Both methods reach the same $50,000 ending book value and $450,000 total depreciation over 10 years under the chosen assumptions.</a:t>
            </a:r>
          </a:p>
          <a:p>
            <a:pPr>
              <a:spcAft>
                <a:spcPts val="1400"/>
              </a:spcAft>
              <a:defRPr sz="2000">
                <a:solidFill>
                  <a:srgbClr val="2D3741"/>
                </a:solidFill>
              </a:defRPr>
            </a:pPr>
            <a:r>
              <a:rPr dirty="0"/>
              <a:t>Choose a method based on asset usage patterns, accounting policy, and applicable reporting requirements.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8.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77767" cy="27443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rPr dirty="0"/>
              <a:t>Excel formulas make the calculations repeatable and transparent.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rPr dirty="0"/>
              <a:t>The method changes the timing of depreciation, not the total depreciable amount when asset price, </a:t>
            </a:r>
            <a:endParaRPr lang="en-US" dirty="0"/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rPr dirty="0"/>
              <a:t>scrap value, and useful life are the same.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rPr dirty="0"/>
              <a:t>The workbook includes the calculator, 10-year schedule, advanced answers, and a dashboard with charts.</a:t>
            </a:r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rPr dirty="0"/>
              <a:t>Note: the screenshot and uploaded workbook differed on Straight-Line scrap value; this presentation </a:t>
            </a:r>
            <a:endParaRPr lang="en-US" dirty="0"/>
          </a:p>
          <a:p>
            <a:pPr>
              <a:spcAft>
                <a:spcPts val="1400"/>
              </a:spcAft>
              <a:defRPr sz="1900">
                <a:solidFill>
                  <a:srgbClr val="2D3741"/>
                </a:solidFill>
              </a:defRPr>
            </a:pPr>
            <a:r>
              <a:rPr dirty="0"/>
              <a:t>follows the uploaded workbook's $50,000 value for consistency.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434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 Raut</cp:lastModifiedBy>
  <cp:revision>2</cp:revision>
  <dcterms:created xsi:type="dcterms:W3CDTF">2013-01-27T09:14:16Z</dcterms:created>
  <dcterms:modified xsi:type="dcterms:W3CDTF">2026-10-25T06:42:18Z</dcterms:modified>
  <cp:category/>
</cp:coreProperties>
</file>